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1pPr>
    <a:lvl2pPr marL="0" marR="0" indent="4572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2pPr>
    <a:lvl3pPr marL="0" marR="0" indent="9144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3pPr>
    <a:lvl4pPr marL="0" marR="0" indent="13716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4pPr>
    <a:lvl5pPr marL="0" marR="0" indent="18288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5pPr>
    <a:lvl6pPr marL="0" marR="0" indent="22860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6pPr>
    <a:lvl7pPr marL="0" marR="0" indent="27432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7pPr>
    <a:lvl8pPr marL="0" marR="0" indent="32004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8pPr>
    <a:lvl9pPr marL="0" marR="0" indent="3657600" algn="ctr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Hannotate SC Regular"/>
        <a:ea typeface="Hannotate SC Regular"/>
        <a:cs typeface="Hannotate SC Regular"/>
        <a:sym typeface="Hannotate SC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28" sz="285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 algn="ctr">
              <a:defRPr spc="-128" sz="128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+mj-lt"/>
                <a:ea typeface="+mj-ea"/>
                <a:cs typeface="+mj-cs"/>
                <a:sym typeface="Hannotate SC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+mj-lt"/>
                <a:ea typeface="+mj-ea"/>
                <a:cs typeface="+mj-cs"/>
                <a:sym typeface="Hannotate SC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+mj-lt"/>
                <a:ea typeface="+mj-ea"/>
                <a:cs typeface="+mj-cs"/>
                <a:sym typeface="Hannotate SC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+mj-lt"/>
                <a:ea typeface="+mj-ea"/>
                <a:cs typeface="+mj-cs"/>
                <a:sym typeface="Hannotate SC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+mj-lt"/>
                <a:ea typeface="+mj-ea"/>
                <a:cs typeface="+mj-cs"/>
                <a:sym typeface="Hannotate SC Bold"/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落时的海滩和大海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 algn="ctr">
              <a:defRPr spc="-128" sz="12800">
                <a:solidFill>
                  <a:srgbClr val="FFFFFF"/>
                </a:solidFill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正文级别 1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作者和日期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28" sz="285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标题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3" name="日落时天空映衬下的大海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幻灯片副标题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标题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1" name="日落时天空映衬下的大海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幻灯片副标题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63" name="正文级别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标题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2" name="幻灯片副标题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标题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2" name="幻灯片副标题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83" name="正文级别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 algn="ctr">
              <a:defRPr spc="0" sz="128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正文级别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algn="l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algn="l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algn="l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algn="l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algn="l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议程副标题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议程副标题</a:t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事实信息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事实信息</a:t>
            </a:r>
          </a:p>
        </p:txBody>
      </p:sp>
      <p:sp>
        <p:nvSpPr>
          <p:cNvPr id="127" name="正文级别 1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pc="-41" sz="418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日落时天空映衬下的大海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日落时天空映衬下的大海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日落时的海滩和大海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日落时的海滩和大海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j-lt"/>
          <a:ea typeface="+mj-ea"/>
          <a:cs typeface="+mj-cs"/>
          <a:sym typeface="Hannotate SC Bold"/>
        </a:defRPr>
      </a:lvl9pPr>
    </p:titleStyle>
    <p:bodyStyle>
      <a:lvl1pPr marL="5461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1pPr>
      <a:lvl2pPr marL="10922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2pPr>
      <a:lvl3pPr marL="16383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3pPr>
      <a:lvl4pPr marL="21844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4pPr>
      <a:lvl5pPr marL="27305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5pPr>
      <a:lvl6pPr marL="32766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6pPr>
      <a:lvl7pPr marL="38227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7pPr>
      <a:lvl8pPr marL="43688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8pPr>
      <a:lvl9pPr marL="4914900" marR="0" indent="-546100" algn="ctr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Hannotate SC Regular"/>
          <a:ea typeface="Hannotate SC Regular"/>
          <a:cs typeface="Hannotate SC Regular"/>
          <a:sym typeface="Hannotate SC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anel: Bridging the gap between LLM and intelligent applications"/>
          <p:cNvSpPr txBox="1"/>
          <p:nvPr>
            <p:ph type="title" idx="4294967295"/>
          </p:nvPr>
        </p:nvSpPr>
        <p:spPr>
          <a:xfrm>
            <a:off x="1056903" y="796847"/>
            <a:ext cx="22270194" cy="1902461"/>
          </a:xfrm>
          <a:prstGeom prst="rect">
            <a:avLst/>
          </a:prstGeom>
        </p:spPr>
        <p:txBody>
          <a:bodyPr/>
          <a:lstStyle>
            <a:lvl1pPr algn="ctr" defTabSz="1146047">
              <a:defRPr spc="-60" sz="6016"/>
            </a:lvl1pPr>
          </a:lstStyle>
          <a:p>
            <a:pPr/>
            <a:r>
              <a:t>Panel: Bridging the gap between LLM and intelligent applications</a:t>
            </a:r>
          </a:p>
        </p:txBody>
      </p:sp>
      <p:sp>
        <p:nvSpPr>
          <p:cNvPr id="172" name="Prof. Ji-Rong Wen…"/>
          <p:cNvSpPr txBox="1"/>
          <p:nvPr/>
        </p:nvSpPr>
        <p:spPr>
          <a:xfrm>
            <a:off x="542412" y="9176819"/>
            <a:ext cx="5811293" cy="2611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Prof. Ji-Rong Wen </a:t>
            </a:r>
          </a:p>
          <a:p>
            <a:pPr/>
            <a:r>
              <a:t>Renmin University of China</a:t>
            </a:r>
          </a:p>
        </p:txBody>
      </p:sp>
      <p:sp>
        <p:nvSpPr>
          <p:cNvPr id="173" name="Dr. Zhenyu Guo…"/>
          <p:cNvSpPr txBox="1"/>
          <p:nvPr/>
        </p:nvSpPr>
        <p:spPr>
          <a:xfrm>
            <a:off x="6794768" y="9287530"/>
            <a:ext cx="5171362" cy="1902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Dr. Zhenyu Guo </a:t>
            </a:r>
          </a:p>
          <a:p>
            <a:pPr/>
            <a:r>
              <a:t>Ant Group</a:t>
            </a:r>
          </a:p>
        </p:txBody>
      </p:sp>
      <p:sp>
        <p:nvSpPr>
          <p:cNvPr id="174" name="Prof. Minchen Yu…"/>
          <p:cNvSpPr txBox="1"/>
          <p:nvPr/>
        </p:nvSpPr>
        <p:spPr>
          <a:xfrm>
            <a:off x="12727159" y="9287530"/>
            <a:ext cx="5171362" cy="1902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Prof. Minchen Yu </a:t>
            </a:r>
          </a:p>
          <a:p>
            <a:pPr/>
            <a:r>
              <a:t>CUHK</a:t>
            </a:r>
          </a:p>
        </p:txBody>
      </p:sp>
      <p:sp>
        <p:nvSpPr>
          <p:cNvPr id="175" name="Dr. Bojie Li…"/>
          <p:cNvSpPr txBox="1"/>
          <p:nvPr/>
        </p:nvSpPr>
        <p:spPr>
          <a:xfrm>
            <a:off x="18659550" y="9287530"/>
            <a:ext cx="5171362" cy="1902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Dr. Bojie Li </a:t>
            </a:r>
          </a:p>
          <a:p>
            <a:pPr/>
            <a:r>
              <a:t>Pine AI</a:t>
            </a:r>
          </a:p>
        </p:txBody>
      </p:sp>
      <p:pic>
        <p:nvPicPr>
          <p:cNvPr id="176" name="微信图片_20251112223642_85_96.jpg" descr="微信图片_20251112223642_85_96.jpg"/>
          <p:cNvPicPr>
            <a:picLocks noChangeAspect="1"/>
          </p:cNvPicPr>
          <p:nvPr/>
        </p:nvPicPr>
        <p:blipFill>
          <a:blip r:embed="rId2">
            <a:extLst/>
          </a:blip>
          <a:srcRect l="10451" t="0" r="5897" b="40509"/>
          <a:stretch>
            <a:fillRect/>
          </a:stretch>
        </p:blipFill>
        <p:spPr>
          <a:xfrm>
            <a:off x="918575" y="3952839"/>
            <a:ext cx="5058849" cy="50452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fd9c9f9467f2433fa9f5cdaf55c4a309.jpg" descr="fd9c9f9467f2433fa9f5cdaf55c4a309.jpg"/>
          <p:cNvPicPr>
            <a:picLocks noChangeAspect="1"/>
          </p:cNvPicPr>
          <p:nvPr/>
        </p:nvPicPr>
        <p:blipFill>
          <a:blip r:embed="rId3">
            <a:extLst/>
          </a:blip>
          <a:srcRect l="4553" t="0" r="4553" b="7815"/>
          <a:stretch>
            <a:fillRect/>
          </a:stretch>
        </p:blipFill>
        <p:spPr>
          <a:xfrm>
            <a:off x="6850966" y="3909977"/>
            <a:ext cx="5058947" cy="5130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minchen.jpg" descr="minchen.jpg"/>
          <p:cNvPicPr>
            <a:picLocks noChangeAspect="1"/>
          </p:cNvPicPr>
          <p:nvPr/>
        </p:nvPicPr>
        <p:blipFill>
          <a:blip r:embed="rId4">
            <a:extLst/>
          </a:blip>
          <a:srcRect l="0" t="0" r="0" b="18143"/>
          <a:stretch>
            <a:fillRect/>
          </a:stretch>
        </p:blipFill>
        <p:spPr>
          <a:xfrm>
            <a:off x="12727199" y="3829808"/>
            <a:ext cx="5171248" cy="52912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IMG_1038.jpeg" descr="IMG_1038.jpeg"/>
          <p:cNvPicPr>
            <a:picLocks noChangeAspect="1"/>
          </p:cNvPicPr>
          <p:nvPr/>
        </p:nvPicPr>
        <p:blipFill>
          <a:blip r:embed="rId5">
            <a:extLst/>
          </a:blip>
          <a:srcRect l="7954" t="0" r="6784" b="42252"/>
          <a:stretch>
            <a:fillRect/>
          </a:stretch>
        </p:blipFill>
        <p:spPr>
          <a:xfrm>
            <a:off x="18648874" y="3834570"/>
            <a:ext cx="5192803" cy="52815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annotate SC Bold"/>
        <a:ea typeface="Hannotate SC Bold"/>
        <a:cs typeface="Hannotate SC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annotate SC Regular"/>
            <a:ea typeface="Hannotate SC Regular"/>
            <a:cs typeface="Hannotate SC Regular"/>
            <a:sym typeface="Hannotate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annotate SC Regular"/>
            <a:ea typeface="Hannotate SC Regular"/>
            <a:cs typeface="Hannotate SC Regular"/>
            <a:sym typeface="Hannotate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annotate SC Bold"/>
        <a:ea typeface="Hannotate SC Bold"/>
        <a:cs typeface="Hannotate SC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annotate SC Regular"/>
            <a:ea typeface="Hannotate SC Regular"/>
            <a:cs typeface="Hannotate SC Regular"/>
            <a:sym typeface="Hannotate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annotate SC Regular"/>
            <a:ea typeface="Hannotate SC Regular"/>
            <a:cs typeface="Hannotate SC Regular"/>
            <a:sym typeface="Hannotate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